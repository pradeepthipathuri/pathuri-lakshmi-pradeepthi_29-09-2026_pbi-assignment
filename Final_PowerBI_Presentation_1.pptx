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127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an end-to-end Power BI solution covering data preparation, modelling, DAX, dashboard design, insights and recommendations. Replace the Name | Roll No | Team line with your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context: what was analyzed, why it matters to management, and what questions the dashboard helps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Power Query steps in order. Mention specific data-quality issues you fixed (nulls, duplicates, data types, inconsistent names).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your Model view screenshot alongside or in place of this diagram. Explain why a star schema: simple, fast, and easy to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every formula. Pick two or three and explain the logic. Replace the sample formulas with your exact measures and column names from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Executive Overview page and explain each component. Then briefly name the other six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from yearly down to daily. Highlight that 2022 was the highest year and that YoY growth is sharply negative. Numbers to be confirmed after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one or two visuals per page and explain what management can investigate with slicers and drill-downs.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every figure once the report is validated. The -72.32% YoY and the Budget Achievement value should be checked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each problem with its matching recommendation. Close by inviting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822960"/>
            <a:ext cx="3474720" cy="3474720"/>
          </a:xfrm>
          <a:prstGeom prst="ellipse">
            <a:avLst/>
          </a:prstGeom>
          <a:solidFill>
            <a:srgbClr val="F2C811">
              <a:alpha val="88000"/>
            </a:srgbClr>
          </a:solidFill>
          <a:ln w="12700">
            <a:solidFill>
              <a:srgbClr val="F2C811">
                <a:alpha val="8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498080" y="3017520"/>
            <a:ext cx="2377440" cy="2377440"/>
          </a:xfrm>
          <a:prstGeom prst="ellipse">
            <a:avLst/>
          </a:prstGeom>
          <a:solidFill>
            <a:srgbClr val="2F3441"/>
          </a:solidFill>
          <a:ln w="12700">
            <a:solidFill>
              <a:srgbClr val="2F34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Training Assignment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Business Intelligence &amp; Analytics Dashboard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Power BI Sales Intelligence Project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NAME – Pathuri Lakshmi Pradeepthi</a:t>
            </a:r>
            <a:br>
              <a:rPr lang="en-IN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ID - 2300031006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data was analyzed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 for 2021–2023 with product, customer, salesperson, location and date details, plus budget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74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sales analysis matters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880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what drives revenue and profit, where performance is slipping, and where to focus effort and budget.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answers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80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we performing against last year and budget? Which products, customers, people and regions matter most?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in Power Query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different datasets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8483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columns and data types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94360" y="2999232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943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88950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unnecessary data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694176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94360" y="3803904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9436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69417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2021, 2022 and 2023 sales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1280160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1389888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80060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128016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Fact_Sales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2084832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2194560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8006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208483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data-quality issues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2889504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00600" y="2999232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48006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288950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data for analysis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3675888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22252E"/>
          </a:solidFill>
          <a:ln w="12700">
            <a:solidFill>
              <a:srgbClr val="2225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4846320" y="367588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clean, analysis-ready model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Model: Star Schema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554480"/>
            <a:ext cx="1645920" cy="1325880"/>
          </a:xfrm>
          <a:prstGeom prst="line">
            <a:avLst/>
          </a:prstGeom>
          <a:noFill/>
          <a:ln w="22225">
            <a:solidFill>
              <a:srgbClr val="9AA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flipH="1">
            <a:off x="2743200" y="1554480"/>
            <a:ext cx="1645920" cy="1325880"/>
          </a:xfrm>
          <a:prstGeom prst="line">
            <a:avLst/>
          </a:prstGeom>
          <a:noFill/>
          <a:ln w="22225">
            <a:solidFill>
              <a:srgbClr val="9AA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97280" y="2880360"/>
            <a:ext cx="1645920" cy="22860"/>
          </a:xfrm>
          <a:prstGeom prst="line">
            <a:avLst/>
          </a:prstGeom>
          <a:noFill/>
          <a:ln w="22225">
            <a:solidFill>
              <a:srgbClr val="9AA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0" y="2880360"/>
            <a:ext cx="1645920" cy="22860"/>
          </a:xfrm>
          <a:prstGeom prst="line">
            <a:avLst/>
          </a:prstGeom>
          <a:noFill/>
          <a:ln w="22225">
            <a:solidFill>
              <a:srgbClr val="9AA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0" y="2880360"/>
            <a:ext cx="0" cy="1325880"/>
          </a:xfrm>
          <a:prstGeom prst="line">
            <a:avLst/>
          </a:prstGeom>
          <a:noFill/>
          <a:ln w="22225">
            <a:solidFill>
              <a:srgbClr val="9AA0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BF0B8"/>
          </a:solidFill>
          <a:ln w="15875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65760" y="1280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2801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BF0B8"/>
          </a:solidFill>
          <a:ln w="15875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657600" y="1280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BF0B8"/>
          </a:solidFill>
          <a:ln w="15875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6576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6060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BF0B8"/>
          </a:solidFill>
          <a:ln w="15875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65760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0" y="39319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BF0B8"/>
          </a:solidFill>
          <a:ln w="15875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201168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Dim_Salesperson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251460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22252E"/>
          </a:solidFill>
          <a:ln w="12700">
            <a:solidFill>
              <a:srgbClr val="2225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2011680" y="2514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Fact_Sales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1627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data: sales, quantity, cost and keys.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 tables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28163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information: products, customers, locations, salespeople, dates.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40050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links let filters flow from dimensions to facts for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194560" cy="493776"/>
          </a:xfrm>
          <a:prstGeom prst="roundRect">
            <a:avLst>
              <a:gd name="adj" fmla="val 1481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280160"/>
            <a:ext cx="2194560" cy="493776"/>
          </a:xfrm>
          <a:prstGeom prst="roundRect">
            <a:avLst>
              <a:gd name="adj" fmla="val 1481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2880360" y="12801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2194560" cy="493776"/>
          </a:xfrm>
          <a:prstGeom prst="roundRect">
            <a:avLst>
              <a:gd name="adj" fmla="val 1481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94360" y="188366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883664"/>
            <a:ext cx="2194560" cy="493776"/>
          </a:xfrm>
          <a:prstGeom prst="roundRect">
            <a:avLst>
              <a:gd name="adj" fmla="val 1481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2880360" y="188366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2194560" cy="493776"/>
          </a:xfrm>
          <a:prstGeom prst="roundRect">
            <a:avLst>
              <a:gd name="adj" fmla="val 1481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94360" y="248716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487168"/>
            <a:ext cx="2194560" cy="493776"/>
          </a:xfrm>
          <a:prstGeom prst="roundRect">
            <a:avLst>
              <a:gd name="adj" fmla="val 1481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2880360" y="248716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90672"/>
            <a:ext cx="2194560" cy="493776"/>
          </a:xfrm>
          <a:prstGeom prst="roundRect">
            <a:avLst>
              <a:gd name="adj" fmla="val 1481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94360" y="309067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3090672"/>
            <a:ext cx="2194560" cy="493776"/>
          </a:xfrm>
          <a:prstGeom prst="roundRect">
            <a:avLst>
              <a:gd name="adj" fmla="val 1481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2880360" y="309067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94176"/>
            <a:ext cx="2194560" cy="493776"/>
          </a:xfrm>
          <a:prstGeom prst="roundRect">
            <a:avLst>
              <a:gd name="adj" fmla="val 1481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594360" y="369417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Sales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0" y="3694176"/>
            <a:ext cx="2194560" cy="493776"/>
          </a:xfrm>
          <a:prstGeom prst="roundRect">
            <a:avLst>
              <a:gd name="adj" fmla="val 1481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880360" y="369417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Achievement 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12080" y="12801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22252E"/>
          </a:solidFill>
          <a:ln w="12700">
            <a:solidFill>
              <a:srgbClr val="2225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39496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600" b="1"/>
            </a:pPr>
            <a:r>
              <a:rPr dirty="0">
                <a:solidFill>
                  <a:schemeClr val="bg1"/>
                </a:solidFill>
              </a:rPr>
              <a:t>Exact measures used in the report</a:t>
            </a:r>
          </a:p>
        </p:txBody>
      </p:sp>
      <p:sp>
        <p:nvSpPr>
          <p:cNvPr id="25" name="Text 23"/>
          <p:cNvSpPr txBox="1"/>
          <p:nvPr/>
        </p:nvSpPr>
        <p:spPr>
          <a:xfrm>
            <a:off x="5394960" y="169164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 sz="1100"/>
            </a:pPr>
            <a:r>
              <a:rPr dirty="0">
                <a:solidFill>
                  <a:schemeClr val="bg1"/>
                </a:solidFill>
              </a:rPr>
              <a:t>Total Sales = SUMX(</a:t>
            </a:r>
            <a:r>
              <a:rPr dirty="0" err="1">
                <a:solidFill>
                  <a:schemeClr val="bg1"/>
                </a:solidFill>
              </a:rPr>
              <a:t>Fact_Sales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Fact_Sales</a:t>
            </a:r>
            <a:r>
              <a:rPr dirty="0">
                <a:solidFill>
                  <a:schemeClr val="bg1"/>
                </a:solidFill>
              </a:rPr>
              <a:t>[Price] * </a:t>
            </a:r>
            <a:r>
              <a:rPr dirty="0" err="1">
                <a:solidFill>
                  <a:schemeClr val="bg1"/>
                </a:solidFill>
              </a:rPr>
              <a:t>Fact_Sales</a:t>
            </a:r>
            <a:r>
              <a:rPr dirty="0">
                <a:solidFill>
                  <a:schemeClr val="bg1"/>
                </a:solidFill>
              </a:rPr>
              <a:t>[Quantity])</a:t>
            </a:r>
            <a:endParaRPr lang="en-US" sz="950" dirty="0">
              <a:solidFill>
                <a:schemeClr val="bg1"/>
              </a:solidFill>
            </a:endParaRPr>
          </a:p>
          <a:p>
            <a:pPr>
              <a:spcAft>
                <a:spcPts val="400"/>
              </a:spcAft>
              <a:defRPr sz="1100"/>
            </a:pPr>
            <a:r>
              <a:rPr dirty="0">
                <a:solidFill>
                  <a:schemeClr val="bg1"/>
                </a:solidFill>
              </a:rPr>
              <a:t>Gross Profit = [Total Sales] - [Total Cost]</a:t>
            </a:r>
          </a:p>
          <a:p>
            <a:pPr>
              <a:spcAft>
                <a:spcPts val="400"/>
              </a:spcAft>
              <a:defRPr sz="1100"/>
            </a:pPr>
            <a:r>
              <a:rPr dirty="0">
                <a:solidFill>
                  <a:schemeClr val="bg1"/>
                </a:solidFill>
              </a:rPr>
              <a:t>Gross Margin % = DIVIDE([Gross Profit], [Total Sales])</a:t>
            </a:r>
          </a:p>
          <a:p>
            <a:pPr>
              <a:spcAft>
                <a:spcPts val="400"/>
              </a:spcAft>
              <a:defRPr sz="1100"/>
            </a:pPr>
            <a:r>
              <a:rPr dirty="0">
                <a:solidFill>
                  <a:schemeClr val="bg1"/>
                </a:solidFill>
              </a:rPr>
              <a:t>YTD Sales = TOTALYTD([Total Sales], </a:t>
            </a:r>
            <a:r>
              <a:rPr dirty="0" err="1">
                <a:solidFill>
                  <a:schemeClr val="bg1"/>
                </a:solidFill>
              </a:rPr>
              <a:t>Dim_Date</a:t>
            </a:r>
            <a:r>
              <a:rPr dirty="0">
                <a:solidFill>
                  <a:schemeClr val="bg1"/>
                </a:solidFill>
              </a:rPr>
              <a:t>[Date])</a:t>
            </a:r>
          </a:p>
          <a:p>
            <a:pPr>
              <a:spcAft>
                <a:spcPts val="400"/>
              </a:spcAft>
              <a:defRPr sz="1100"/>
            </a:pPr>
            <a:r>
              <a:rPr dirty="0">
                <a:solidFill>
                  <a:schemeClr val="bg1"/>
                </a:solidFill>
              </a:rPr>
              <a:t>Budget = SUM(Budgeting[Monthly Allocation2])</a:t>
            </a:r>
          </a:p>
        </p:txBody>
      </p:sp>
      <p:sp>
        <p:nvSpPr>
          <p:cNvPr id="26" name="Text 24"/>
          <p:cNvSpPr txBox="1"/>
          <p:nvPr/>
        </p:nvSpPr>
        <p:spPr>
          <a:xfrm>
            <a:off x="521208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was used to build business KPIs and time-intelligence calculations such as YoY and YTD.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222" y="1440180"/>
            <a:ext cx="3756777" cy="2029968"/>
          </a:xfrm>
          <a:prstGeom prst="roundRect">
            <a:avLst>
              <a:gd name="adj" fmla="val 3137"/>
            </a:avLst>
          </a:prstGeom>
          <a:solidFill>
            <a:srgbClr val="F4F5F7"/>
          </a:solidFill>
          <a:ln w="15875">
            <a:solidFill>
              <a:srgbClr val="9AA0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0" y="118872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at the top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visualization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and state comparisons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and customers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salespeople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report pages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950208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57200" y="3950208"/>
            <a:ext cx="10972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0" y="3950208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645920" y="3950208"/>
            <a:ext cx="10972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34640" y="3950208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2834640" y="3950208"/>
            <a:ext cx="10972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0" y="3950208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023360" y="3950208"/>
            <a:ext cx="10972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12080" y="3950208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212080" y="3950208"/>
            <a:ext cx="10972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Performance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3950208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400800" y="3950208"/>
            <a:ext cx="10972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89520" y="3950208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589520" y="3950208"/>
            <a:ext cx="10972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950" dirty="0"/>
          </a:p>
        </p:txBody>
      </p:sp>
      <p:pic>
        <p:nvPicPr>
          <p:cNvPr id="21" name="Picture 20" descr="executive_dashboard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21" y="1234439"/>
            <a:ext cx="3756778" cy="22402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Trend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9594"/>
            <a:ext cx="4196219" cy="2084581"/>
          </a:xfrm>
          <a:prstGeom prst="roundRect">
            <a:avLst>
              <a:gd name="adj" fmla="val 2222"/>
            </a:avLst>
          </a:prstGeom>
          <a:solidFill>
            <a:srgbClr val="F4F5F7"/>
          </a:solidFill>
          <a:ln w="15875">
            <a:solidFill>
              <a:srgbClr val="9AA0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29200" y="1188720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166360" y="11887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was the peak sales year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755648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166360" y="175564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quarters to spot weak periods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322576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166360" y="232257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Noticeable ups and downs through the period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889504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166360" y="288950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 to find unusual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56432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5166360" y="34564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-72.32%, a sharp decline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4023360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166360" y="40233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promotions and stock around them</a:t>
            </a:r>
            <a:endParaRPr lang="en-US" sz="1200" dirty="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2" y="1577777"/>
            <a:ext cx="4982378" cy="2148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Product, Customer &amp; Geographic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5875">
            <a:solidFill>
              <a:srgbClr val="9AA0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2944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73552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sales and profit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a few key products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products to review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19" y="1188720"/>
            <a:ext cx="2577397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5875">
            <a:solidFill>
              <a:srgbClr val="9AA0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3246120" y="2944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273552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by sales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prioritize for retention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438818" cy="138303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5875">
            <a:solidFill>
              <a:srgbClr val="9AA0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035040" y="2944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Analysis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273552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state and location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and weak regions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target growth</a:t>
            </a:r>
            <a:endParaRPr lang="en-US" sz="1250" dirty="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38807"/>
            <a:ext cx="2578608" cy="1317146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908" y="1211580"/>
            <a:ext cx="2456688" cy="1371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513" y="1200150"/>
            <a:ext cx="2302401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923"/>
                </a:solidFill>
              </a:defRPr>
            </a:pPr>
            <a:r>
              <a:t>Salesperson &amp; Budget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Salesperson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144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Budget vs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4614"/>
                </a:solidFill>
              </a:defRPr>
            </a:pPr>
            <a:r>
              <a:t>Validation note: the current report displays Budget Achievement at 3963.17%; validate the budget data/relationships before final submission.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5057"/>
            <a:ext cx="3931920" cy="218367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388704"/>
            <a:ext cx="3931920" cy="24163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~13M gross profit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25980" y="128016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2171700" y="1554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32.51%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21742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1742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Gross margin</a:t>
            </a:r>
          </a:p>
        </p:txBody>
      </p:sp>
      <p:sp>
        <p:nvSpPr>
          <p:cNvPr id="11" name="Shape 9"/>
          <p:cNvSpPr/>
          <p:nvPr/>
        </p:nvSpPr>
        <p:spPr>
          <a:xfrm>
            <a:off x="3794760" y="128016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3840480" y="1554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year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fell after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63540" y="128016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22252E"/>
          </a:solidFill>
          <a:ln w="12700">
            <a:solidFill>
              <a:srgbClr val="2225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509260" y="1554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-72.32%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55498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55498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decline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128016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178040" y="1554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11K | 33K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| Units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~3.64K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of products and customers drive a large share of sales.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Current figures; validate budget metrics before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2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2F3441"/>
          </a:solidFill>
          <a:ln w="12700">
            <a:solidFill>
              <a:srgbClr val="2F3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8580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8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Problems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65760" cy="365760"/>
          </a:xfrm>
          <a:prstGeom prst="ellipse">
            <a:avLst/>
          </a:prstGeom>
          <a:solidFill>
            <a:srgbClr val="F58C7B"/>
          </a:solidFill>
          <a:ln w="12700">
            <a:solidFill>
              <a:srgbClr val="F58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decline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365760" cy="365760"/>
          </a:xfrm>
          <a:prstGeom prst="ellipse">
            <a:avLst/>
          </a:prstGeom>
          <a:solidFill>
            <a:srgbClr val="F58C7B"/>
          </a:solidFill>
          <a:ln w="12700">
            <a:solidFill>
              <a:srgbClr val="F58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858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31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calculation / data validation issue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365760" cy="365760"/>
          </a:xfrm>
          <a:prstGeom prst="ellipse">
            <a:avLst/>
          </a:prstGeom>
          <a:solidFill>
            <a:srgbClr val="F58C7B"/>
          </a:solidFill>
          <a:ln w="12700">
            <a:solidFill>
              <a:srgbClr val="F58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858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concentration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474720"/>
            <a:ext cx="365760" cy="365760"/>
          </a:xfrm>
          <a:prstGeom prst="ellipse">
            <a:avLst/>
          </a:prstGeom>
          <a:solidFill>
            <a:srgbClr val="F58C7B"/>
          </a:solidFill>
          <a:ln w="12700">
            <a:solidFill>
              <a:srgbClr val="F58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858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concentration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023360"/>
            <a:ext cx="365760" cy="365760"/>
          </a:xfrm>
          <a:prstGeom prst="ellipse">
            <a:avLst/>
          </a:prstGeom>
          <a:solidFill>
            <a:srgbClr val="F58C7B"/>
          </a:solidFill>
          <a:ln w="12700">
            <a:solidFill>
              <a:srgbClr val="F58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858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977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sales performance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2F3441"/>
          </a:solidFill>
          <a:ln w="12700">
            <a:solidFill>
              <a:srgbClr val="2F3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89204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Recommendations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92040" y="1828800"/>
            <a:ext cx="365760" cy="36576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8920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sales decline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377440"/>
            <a:ext cx="365760" cy="36576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920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2331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budget calculations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2926080"/>
            <a:ext cx="365760" cy="36576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48920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high-performing products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3474720"/>
            <a:ext cx="365760" cy="36576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48920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retention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92040" y="4023360"/>
            <a:ext cx="365760" cy="36576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48920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394960" y="3977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monthly sales planning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884</Words>
  <Application>Microsoft Office PowerPoint</Application>
  <PresentationFormat>On-screen Show (16:9)</PresentationFormat>
  <Paragraphs>161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Business Intelligence &amp; Analytics Dashboard</dc:title>
  <dc:subject>PptxGenJS Presentation</dc:subject>
  <dc:creator>PptxGenJS</dc:creator>
  <cp:lastModifiedBy>pradeepthipathuri8@gmail.com</cp:lastModifiedBy>
  <cp:revision>3</cp:revision>
  <dcterms:created xsi:type="dcterms:W3CDTF">2026-09-28T08:32:21Z</dcterms:created>
  <dcterms:modified xsi:type="dcterms:W3CDTF">2026-09-28T08:58:20Z</dcterms:modified>
</cp:coreProperties>
</file>